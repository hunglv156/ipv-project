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Nyutro Sans Heavy" charset="1" panose="00000000000000000000"/>
      <p:regular r:id="rId15"/>
    </p:embeddedFont>
    <p:embeddedFont>
      <p:font typeface="Nyutro Sans" charset="1" panose="00000000000000000000"/>
      <p:regular r:id="rId16"/>
    </p:embeddedFont>
    <p:embeddedFont>
      <p:font typeface="Nyutro Sans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jpe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10283443"/>
            <a:chOff x="0" y="0"/>
            <a:chExt cx="1863593" cy="27828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63594" cy="2782841"/>
            </a:xfrm>
            <a:custGeom>
              <a:avLst/>
              <a:gdLst/>
              <a:ahLst/>
              <a:cxnLst/>
              <a:rect r="r" b="b" t="t" l="l"/>
              <a:pathLst>
                <a:path h="2782841" w="1863594">
                  <a:moveTo>
                    <a:pt x="13761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605167"/>
                  </a:lnTo>
                  <a:cubicBezTo>
                    <a:pt x="0" y="2703293"/>
                    <a:pt x="79547" y="2782840"/>
                    <a:pt x="177673" y="2782840"/>
                  </a:cubicBezTo>
                  <a:lnTo>
                    <a:pt x="1685921" y="2782840"/>
                  </a:lnTo>
                  <a:cubicBezTo>
                    <a:pt x="1784047" y="2782840"/>
                    <a:pt x="1863594" y="2703293"/>
                    <a:pt x="1863594" y="2605167"/>
                  </a:cubicBezTo>
                  <a:lnTo>
                    <a:pt x="1863594" y="523958"/>
                  </a:lnTo>
                  <a:cubicBezTo>
                    <a:pt x="1863594" y="480251"/>
                    <a:pt x="1847484" y="438079"/>
                    <a:pt x="1818345" y="405503"/>
                  </a:cubicBezTo>
                  <a:lnTo>
                    <a:pt x="1508568" y="59214"/>
                  </a:lnTo>
                  <a:cubicBezTo>
                    <a:pt x="1474864" y="21536"/>
                    <a:pt x="1426705" y="0"/>
                    <a:pt x="137615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62" r="0" b="-16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7137305"/>
            <a:chOff x="0" y="0"/>
            <a:chExt cx="13017500" cy="951640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3017500" cy="797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700"/>
                </a:lnSpc>
              </a:pPr>
              <a:r>
                <a:rPr lang="en-US" b="true" sz="14700" spc="-147">
                  <a:solidFill>
                    <a:srgbClr val="002B36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VisionSpeak: Ứng dụng OCR &amp; TTS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8071782"/>
              <a:ext cx="9182100" cy="1444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 spc="-60">
                  <a:solidFill>
                    <a:srgbClr val="586E75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Người thuyết trình: Lê Vũ Hưng,</a:t>
              </a:r>
            </a:p>
            <a:p>
              <a:pPr algn="l" marL="0" indent="0" lvl="0">
                <a:lnSpc>
                  <a:spcPts val="4200"/>
                </a:lnSpc>
              </a:pPr>
              <a:r>
                <a:rPr lang="en-US" sz="3000" spc="-60">
                  <a:solidFill>
                    <a:srgbClr val="586E75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Bùi Thanh Hải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21450"/>
            <a:ext cx="6886575" cy="309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586E75"/>
                </a:solidFill>
                <a:latin typeface="Nyutro Sans"/>
                <a:ea typeface="Nyutro Sans"/>
                <a:cs typeface="Nyutro Sans"/>
                <a:sym typeface="Nyutro Sans"/>
              </a:rPr>
              <a:t>VisionSpeak là ứng dụng desktop chuyên nghiệp tích hợp </a:t>
            </a:r>
            <a:r>
              <a:rPr lang="en-US" b="true" sz="2499" strike="noStrike" u="none">
                <a:solidFill>
                  <a:srgbClr val="586E75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OCR</a:t>
            </a:r>
            <a:r>
              <a:rPr lang="en-US" sz="2499" strike="noStrike" u="none">
                <a:solidFill>
                  <a:srgbClr val="586E75"/>
                </a:solidFill>
                <a:latin typeface="Nyutro Sans"/>
                <a:ea typeface="Nyutro Sans"/>
                <a:cs typeface="Nyutro Sans"/>
                <a:sym typeface="Nyutro Sans"/>
              </a:rPr>
              <a:t> và </a:t>
            </a:r>
            <a:r>
              <a:rPr lang="en-US" b="true" sz="2499" strike="noStrike" u="none">
                <a:solidFill>
                  <a:srgbClr val="586E75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TTS</a:t>
            </a:r>
            <a:r>
              <a:rPr lang="en-US" sz="2499" strike="noStrike" u="none">
                <a:solidFill>
                  <a:srgbClr val="586E75"/>
                </a:solidFill>
                <a:latin typeface="Nyutro Sans"/>
                <a:ea typeface="Nyutro Sans"/>
                <a:cs typeface="Nyutro Sans"/>
                <a:sym typeface="Nyutro Sans"/>
              </a:rPr>
              <a:t>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586E75"/>
                </a:solidFill>
                <a:latin typeface="Nyutro Sans"/>
                <a:ea typeface="Nyutro Sans"/>
                <a:cs typeface="Nyutro Sans"/>
                <a:sym typeface="Nyutro Sans"/>
              </a:rPr>
              <a:t>Xử lý ảnh thông minh, hỗ trợ ảnh chất lượng thấp.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586E75"/>
                </a:solidFill>
                <a:latin typeface="Nyutro Sans"/>
                <a:ea typeface="Nyutro Sans"/>
                <a:cs typeface="Nyutro Sans"/>
                <a:sym typeface="Nyutro Sans"/>
              </a:rPr>
              <a:t>Chuyển đổi văn bản từ ảnh thành văn bản số và đọc thành giọng nói.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586E75"/>
                </a:solidFill>
                <a:latin typeface="Nyutro Sans"/>
                <a:ea typeface="Nyutro Sans"/>
                <a:cs typeface="Nyutro Sans"/>
                <a:sym typeface="Nyutro Sans"/>
              </a:rPr>
              <a:t>Hỗ trợ người mắt kém và học tập.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742950"/>
            <a:ext cx="6886575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002B36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Tổng quan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296400" y="666750"/>
            <a:ext cx="8324850" cy="8953500"/>
            <a:chOff x="0" y="0"/>
            <a:chExt cx="2576171" cy="27707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76172" cy="2770723"/>
            </a:xfrm>
            <a:custGeom>
              <a:avLst/>
              <a:gdLst/>
              <a:ahLst/>
              <a:cxnLst/>
              <a:rect r="r" b="b" t="t" l="l"/>
              <a:pathLst>
                <a:path h="2770723" w="2576172">
                  <a:moveTo>
                    <a:pt x="208873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593050"/>
                  </a:lnTo>
                  <a:cubicBezTo>
                    <a:pt x="0" y="2691176"/>
                    <a:pt x="79547" y="2770723"/>
                    <a:pt x="177673" y="2770723"/>
                  </a:cubicBezTo>
                  <a:lnTo>
                    <a:pt x="2398500" y="2770723"/>
                  </a:lnTo>
                  <a:cubicBezTo>
                    <a:pt x="2496626" y="2770723"/>
                    <a:pt x="2576172" y="2691176"/>
                    <a:pt x="2576172" y="2593050"/>
                  </a:cubicBezTo>
                  <a:lnTo>
                    <a:pt x="2576172" y="523958"/>
                  </a:lnTo>
                  <a:cubicBezTo>
                    <a:pt x="2576172" y="480251"/>
                    <a:pt x="2560063" y="438079"/>
                    <a:pt x="2530924" y="405503"/>
                  </a:cubicBezTo>
                  <a:lnTo>
                    <a:pt x="2221146" y="59214"/>
                  </a:lnTo>
                  <a:cubicBezTo>
                    <a:pt x="2187442" y="21536"/>
                    <a:pt x="2139283" y="0"/>
                    <a:pt x="208873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58" r="0" b="-258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4010025" cy="6267450"/>
            <a:chOff x="0" y="0"/>
            <a:chExt cx="1056138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586E75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1575" y="3352800"/>
            <a:ext cx="4010025" cy="6267450"/>
            <a:chOff x="0" y="0"/>
            <a:chExt cx="1056138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002B36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3352800"/>
            <a:ext cx="4010025" cy="6267450"/>
            <a:chOff x="0" y="0"/>
            <a:chExt cx="1056138" cy="1650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586E7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3352800"/>
            <a:ext cx="4010025" cy="6267450"/>
            <a:chOff x="0" y="0"/>
            <a:chExt cx="1056138" cy="16506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002B3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742950"/>
            <a:ext cx="169545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002B36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Mục đích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69769" y="6019800"/>
            <a:ext cx="3603986" cy="1879600"/>
            <a:chOff x="0" y="0"/>
            <a:chExt cx="4805315" cy="250613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38100"/>
              <a:ext cx="4805315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FFFFFF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Khiếm thị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81588" y="132715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Hỗ trợ tiếp cận thông tin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70786" y="6019800"/>
            <a:ext cx="3031604" cy="1879600"/>
            <a:chOff x="0" y="0"/>
            <a:chExt cx="4042139" cy="250613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38100"/>
              <a:ext cx="4042139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FFFFFF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Học tập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32715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FFFFFF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Nâng cao hiệu quả học tập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85611" y="6019800"/>
            <a:ext cx="3031604" cy="2565400"/>
            <a:chOff x="0" y="0"/>
            <a:chExt cx="4042139" cy="342053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38100"/>
              <a:ext cx="4042139" cy="2095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FFFFFF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Công việc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224155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FFFFFF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Tối ưu quy trình làm việc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103701" y="6019800"/>
            <a:ext cx="3025073" cy="1879600"/>
            <a:chOff x="0" y="0"/>
            <a:chExt cx="4033431" cy="2506133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38100"/>
              <a:ext cx="4033431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FFFFFF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Tài liệu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1327150"/>
              <a:ext cx="4033431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FFFFFF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Chuyển đổi tài liệu số hóa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72010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03493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34975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66458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248150"/>
            <a:ext cx="5448300" cy="3194207"/>
            <a:chOff x="0" y="0"/>
            <a:chExt cx="844084" cy="4948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4084" cy="494866"/>
            </a:xfrm>
            <a:custGeom>
              <a:avLst/>
              <a:gdLst/>
              <a:ahLst/>
              <a:cxnLst/>
              <a:rect r="r" b="b" t="t" l="l"/>
              <a:pathLst>
                <a:path h="494866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459342"/>
                  </a:lnTo>
                  <a:cubicBezTo>
                    <a:pt x="844084" y="478961"/>
                    <a:pt x="828179" y="494866"/>
                    <a:pt x="808560" y="494866"/>
                  </a:cubicBezTo>
                  <a:lnTo>
                    <a:pt x="35524" y="494866"/>
                  </a:lnTo>
                  <a:cubicBezTo>
                    <a:pt x="15905" y="494866"/>
                    <a:pt x="0" y="478961"/>
                    <a:pt x="0" y="459342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2"/>
              <a:stretch>
                <a:fillRect l="-324" t="0" r="-32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19850" y="4248150"/>
            <a:ext cx="5448300" cy="3194207"/>
            <a:chOff x="0" y="0"/>
            <a:chExt cx="844084" cy="4948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4084" cy="494866"/>
            </a:xfrm>
            <a:custGeom>
              <a:avLst/>
              <a:gdLst/>
              <a:ahLst/>
              <a:cxnLst/>
              <a:rect r="r" b="b" t="t" l="l"/>
              <a:pathLst>
                <a:path h="494866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459342"/>
                  </a:lnTo>
                  <a:cubicBezTo>
                    <a:pt x="844084" y="478961"/>
                    <a:pt x="828179" y="494866"/>
                    <a:pt x="808560" y="494866"/>
                  </a:cubicBezTo>
                  <a:lnTo>
                    <a:pt x="35524" y="494866"/>
                  </a:lnTo>
                  <a:cubicBezTo>
                    <a:pt x="15905" y="494866"/>
                    <a:pt x="0" y="478961"/>
                    <a:pt x="0" y="459342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3"/>
              <a:stretch>
                <a:fillRect l="-324" t="0" r="-32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72950" y="4248150"/>
            <a:ext cx="5448300" cy="3194207"/>
            <a:chOff x="0" y="0"/>
            <a:chExt cx="844084" cy="4948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4084" cy="494866"/>
            </a:xfrm>
            <a:custGeom>
              <a:avLst/>
              <a:gdLst/>
              <a:ahLst/>
              <a:cxnLst/>
              <a:rect r="r" b="b" t="t" l="l"/>
              <a:pathLst>
                <a:path h="494866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459342"/>
                  </a:lnTo>
                  <a:cubicBezTo>
                    <a:pt x="844084" y="478961"/>
                    <a:pt x="828179" y="494866"/>
                    <a:pt x="808560" y="494866"/>
                  </a:cubicBezTo>
                  <a:lnTo>
                    <a:pt x="35524" y="494866"/>
                  </a:lnTo>
                  <a:cubicBezTo>
                    <a:pt x="15905" y="494866"/>
                    <a:pt x="0" y="478961"/>
                    <a:pt x="0" y="459342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4"/>
              <a:stretch>
                <a:fillRect l="-324" t="0" r="-324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66750" y="742950"/>
            <a:ext cx="15516225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002B36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Xử lý ảnh nâng cao với VisionSpeak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6750" y="7829550"/>
            <a:ext cx="5448300" cy="905644"/>
            <a:chOff x="0" y="0"/>
            <a:chExt cx="7264400" cy="120752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612742"/>
              <a:ext cx="72644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586E75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Tăng độ phân giải ảnh chất lượng thấp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66675"/>
              <a:ext cx="72644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586E75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Upscaling tự động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419850" y="7829550"/>
            <a:ext cx="5448300" cy="1343794"/>
            <a:chOff x="0" y="0"/>
            <a:chExt cx="7264400" cy="179172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612742"/>
              <a:ext cx="7264400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586E75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Cải thiện hình ảnh có ánh sáng không đều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66675"/>
              <a:ext cx="72644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586E75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Adaptive thresholding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7829550"/>
            <a:ext cx="5448300" cy="1343794"/>
            <a:chOff x="0" y="0"/>
            <a:chExt cx="7264400" cy="1791725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612742"/>
              <a:ext cx="7264400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586E75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Nhận dạng văn bản chính xác và nhanh chóng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66675"/>
              <a:ext cx="72644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586E75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Tesseract OCR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248150"/>
            <a:ext cx="5448300" cy="3194207"/>
            <a:chOff x="0" y="0"/>
            <a:chExt cx="844084" cy="4948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4084" cy="494866"/>
            </a:xfrm>
            <a:custGeom>
              <a:avLst/>
              <a:gdLst/>
              <a:ahLst/>
              <a:cxnLst/>
              <a:rect r="r" b="b" t="t" l="l"/>
              <a:pathLst>
                <a:path h="494866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459342"/>
                  </a:lnTo>
                  <a:cubicBezTo>
                    <a:pt x="844084" y="478961"/>
                    <a:pt x="828179" y="494866"/>
                    <a:pt x="808560" y="494866"/>
                  </a:cubicBezTo>
                  <a:lnTo>
                    <a:pt x="35524" y="494866"/>
                  </a:lnTo>
                  <a:cubicBezTo>
                    <a:pt x="15905" y="494866"/>
                    <a:pt x="0" y="478961"/>
                    <a:pt x="0" y="459342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2"/>
              <a:stretch>
                <a:fillRect l="-324" t="0" r="-32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19850" y="4248150"/>
            <a:ext cx="5448300" cy="3194207"/>
            <a:chOff x="0" y="0"/>
            <a:chExt cx="844084" cy="4948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4084" cy="494866"/>
            </a:xfrm>
            <a:custGeom>
              <a:avLst/>
              <a:gdLst/>
              <a:ahLst/>
              <a:cxnLst/>
              <a:rect r="r" b="b" t="t" l="l"/>
              <a:pathLst>
                <a:path h="494866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459342"/>
                  </a:lnTo>
                  <a:cubicBezTo>
                    <a:pt x="844084" y="478961"/>
                    <a:pt x="828179" y="494866"/>
                    <a:pt x="808560" y="494866"/>
                  </a:cubicBezTo>
                  <a:lnTo>
                    <a:pt x="35524" y="494866"/>
                  </a:lnTo>
                  <a:cubicBezTo>
                    <a:pt x="15905" y="494866"/>
                    <a:pt x="0" y="478961"/>
                    <a:pt x="0" y="459342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3"/>
              <a:stretch>
                <a:fillRect l="-324" t="0" r="-32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72950" y="4248150"/>
            <a:ext cx="5448300" cy="3194207"/>
            <a:chOff x="0" y="0"/>
            <a:chExt cx="844084" cy="4948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4084" cy="494866"/>
            </a:xfrm>
            <a:custGeom>
              <a:avLst/>
              <a:gdLst/>
              <a:ahLst/>
              <a:cxnLst/>
              <a:rect r="r" b="b" t="t" l="l"/>
              <a:pathLst>
                <a:path h="494866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459342"/>
                  </a:lnTo>
                  <a:cubicBezTo>
                    <a:pt x="844084" y="478961"/>
                    <a:pt x="828179" y="494866"/>
                    <a:pt x="808560" y="494866"/>
                  </a:cubicBezTo>
                  <a:lnTo>
                    <a:pt x="35524" y="494866"/>
                  </a:lnTo>
                  <a:cubicBezTo>
                    <a:pt x="15905" y="494866"/>
                    <a:pt x="0" y="478961"/>
                    <a:pt x="0" y="459342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4"/>
              <a:stretch>
                <a:fillRect l="-324" t="0" r="-324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66750" y="742950"/>
            <a:ext cx="15516225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002B36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Chuyển văn bản thành giọng nói rõ ràng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6750" y="7829550"/>
            <a:ext cx="5448300" cy="905644"/>
            <a:chOff x="0" y="0"/>
            <a:chExt cx="7264400" cy="120752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612742"/>
              <a:ext cx="72644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586E75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Hỗ trợ học tập và tiếp cận thông tin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66675"/>
              <a:ext cx="72644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586E75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Giọng nói rõ ràng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419850" y="7829550"/>
            <a:ext cx="5448300" cy="905644"/>
            <a:chOff x="0" y="0"/>
            <a:chExt cx="7264400" cy="120752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612742"/>
              <a:ext cx="72644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586E75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Danh sách có tiêu đề phụ rõ ràng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66675"/>
              <a:ext cx="72644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586E75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Dễ dàng theo dõi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7829550"/>
            <a:ext cx="5448300" cy="1343794"/>
            <a:chOff x="0" y="0"/>
            <a:chExt cx="7264400" cy="1791725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612742"/>
              <a:ext cx="7264400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586E75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Biểu tượng phù hợp cho từng tính năng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66675"/>
              <a:ext cx="72644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586E75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Hình ảnh minh họa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248150"/>
            <a:ext cx="5448300" cy="3194207"/>
            <a:chOff x="0" y="0"/>
            <a:chExt cx="844084" cy="4948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4084" cy="494866"/>
            </a:xfrm>
            <a:custGeom>
              <a:avLst/>
              <a:gdLst/>
              <a:ahLst/>
              <a:cxnLst/>
              <a:rect r="r" b="b" t="t" l="l"/>
              <a:pathLst>
                <a:path h="494866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459342"/>
                  </a:lnTo>
                  <a:cubicBezTo>
                    <a:pt x="844084" y="478961"/>
                    <a:pt x="828179" y="494866"/>
                    <a:pt x="808560" y="494866"/>
                  </a:cubicBezTo>
                  <a:lnTo>
                    <a:pt x="35524" y="494866"/>
                  </a:lnTo>
                  <a:cubicBezTo>
                    <a:pt x="15905" y="494866"/>
                    <a:pt x="0" y="478961"/>
                    <a:pt x="0" y="459342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2"/>
              <a:stretch>
                <a:fillRect l="-324" t="0" r="-32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19850" y="4248150"/>
            <a:ext cx="5448300" cy="3194207"/>
            <a:chOff x="0" y="0"/>
            <a:chExt cx="844084" cy="4948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4084" cy="494866"/>
            </a:xfrm>
            <a:custGeom>
              <a:avLst/>
              <a:gdLst/>
              <a:ahLst/>
              <a:cxnLst/>
              <a:rect r="r" b="b" t="t" l="l"/>
              <a:pathLst>
                <a:path h="494866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459342"/>
                  </a:lnTo>
                  <a:cubicBezTo>
                    <a:pt x="844084" y="478961"/>
                    <a:pt x="828179" y="494866"/>
                    <a:pt x="808560" y="494866"/>
                  </a:cubicBezTo>
                  <a:lnTo>
                    <a:pt x="35524" y="494866"/>
                  </a:lnTo>
                  <a:cubicBezTo>
                    <a:pt x="15905" y="494866"/>
                    <a:pt x="0" y="478961"/>
                    <a:pt x="0" y="459342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3"/>
              <a:stretch>
                <a:fillRect l="-324" t="0" r="-32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72950" y="4248150"/>
            <a:ext cx="5448300" cy="3194207"/>
            <a:chOff x="0" y="0"/>
            <a:chExt cx="844084" cy="4948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4084" cy="494866"/>
            </a:xfrm>
            <a:custGeom>
              <a:avLst/>
              <a:gdLst/>
              <a:ahLst/>
              <a:cxnLst/>
              <a:rect r="r" b="b" t="t" l="l"/>
              <a:pathLst>
                <a:path h="494866" w="844084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459342"/>
                  </a:lnTo>
                  <a:cubicBezTo>
                    <a:pt x="844084" y="478961"/>
                    <a:pt x="828179" y="494866"/>
                    <a:pt x="808560" y="494866"/>
                  </a:cubicBezTo>
                  <a:lnTo>
                    <a:pt x="35524" y="494866"/>
                  </a:lnTo>
                  <a:cubicBezTo>
                    <a:pt x="15905" y="494866"/>
                    <a:pt x="0" y="478961"/>
                    <a:pt x="0" y="459342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4"/>
              <a:stretch>
                <a:fillRect l="-324" t="0" r="-324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66750" y="742950"/>
            <a:ext cx="15516225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002B36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Tính năng thông minh của VisionSpeak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6750" y="7829550"/>
            <a:ext cx="5448300" cy="1343794"/>
            <a:chOff x="0" y="0"/>
            <a:chExt cx="7264400" cy="179172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612742"/>
              <a:ext cx="7264400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586E75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Tăng cường độ phân giải và chất lượng ảnh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66675"/>
              <a:ext cx="72644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586E75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Xử lý ảnh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419850" y="7829550"/>
            <a:ext cx="5448300" cy="1343794"/>
            <a:chOff x="0" y="0"/>
            <a:chExt cx="7264400" cy="179172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612742"/>
              <a:ext cx="7264400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586E75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Chuyển đổi văn bản từ ảnh thành văn bản số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66675"/>
              <a:ext cx="72644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586E75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Nhận dạng ký tự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7829550"/>
            <a:ext cx="5448300" cy="1343794"/>
            <a:chOff x="0" y="0"/>
            <a:chExt cx="7264400" cy="1791725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612742"/>
              <a:ext cx="7264400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586E75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Giọng nói rõ ràng hỗ trợ học tập hiệu quả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66675"/>
              <a:ext cx="72644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586E75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Đọc văn bản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9763125" cy="3019425"/>
            <a:chOff x="0" y="0"/>
            <a:chExt cx="13017500" cy="4025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13017500" cy="312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b="true" sz="9000" spc="-89" strike="noStrike" u="none">
                  <a:solidFill>
                    <a:srgbClr val="002B36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Kết luận VisionSpeak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38100" y="3371850"/>
              <a:ext cx="129794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 strike="noStrike" u="none">
                  <a:solidFill>
                    <a:srgbClr val="586E75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Tích hợp công nghệ hỗ trợ giáo dục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95325" y="6038850"/>
            <a:ext cx="6858000" cy="2574888"/>
            <a:chOff x="0" y="0"/>
            <a:chExt cx="9144000" cy="343318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085800"/>
              <a:ext cx="9144000" cy="23473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586E75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VisionSpeak cung cấp </a:t>
              </a:r>
              <a:r>
                <a:rPr lang="en-US" b="true" sz="2499" strike="noStrike" u="none">
                  <a:solidFill>
                    <a:srgbClr val="586E75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chuyên nghiệp hóa</a:t>
              </a:r>
              <a:r>
                <a:rPr lang="en-US" sz="2499" strike="noStrike" u="none">
                  <a:solidFill>
                    <a:srgbClr val="586E75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trong quá trình học tập, với tích hợp OCR và TTS, giúp người dùng dễ dàng chuyển đổi văn bản từ ảnh thành âm thanh.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57150"/>
              <a:ext cx="91440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 strike="noStrike" u="none">
                  <a:solidFill>
                    <a:srgbClr val="586E75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Giá trị nổi bật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58125" y="6038850"/>
            <a:ext cx="6858000" cy="2574888"/>
            <a:chOff x="0" y="0"/>
            <a:chExt cx="9144000" cy="343318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085800"/>
              <a:ext cx="9144000" cy="23473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586E75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Ứng dụng hỗ trợ người khiếm thị bằng cách cải thiện khả năng tiếp cận tài liệu, đồng thời nâng cao </a:t>
              </a:r>
              <a:r>
                <a:rPr lang="en-US" b="true" sz="2499" strike="noStrike" u="none">
                  <a:solidFill>
                    <a:srgbClr val="586E75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hiệu quả học tập</a:t>
              </a:r>
              <a:r>
                <a:rPr lang="en-US" sz="2499" strike="noStrike" u="none">
                  <a:solidFill>
                    <a:srgbClr val="586E75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cho tất cả người dùng thông qua công nghệ thông minh.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91440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 strike="noStrike" u="none">
                  <a:solidFill>
                    <a:srgbClr val="586E75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Hỗ trợ người khiếm thị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7773" y="6934200"/>
            <a:ext cx="19247032" cy="4815863"/>
            <a:chOff x="0" y="0"/>
            <a:chExt cx="5069177" cy="1268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69177" cy="1268375"/>
            </a:xfrm>
            <a:custGeom>
              <a:avLst/>
              <a:gdLst/>
              <a:ahLst/>
              <a:cxnLst/>
              <a:rect r="r" b="b" t="t" l="l"/>
              <a:pathLst>
                <a:path h="1268375" w="5069177">
                  <a:moveTo>
                    <a:pt x="0" y="0"/>
                  </a:moveTo>
                  <a:lnTo>
                    <a:pt x="5069177" y="0"/>
                  </a:lnTo>
                  <a:lnTo>
                    <a:pt x="5069177" y="1268375"/>
                  </a:lnTo>
                  <a:lnTo>
                    <a:pt x="0" y="1268375"/>
                  </a:lnTo>
                  <a:close/>
                </a:path>
              </a:pathLst>
            </a:custGeom>
            <a:solidFill>
              <a:srgbClr val="002B3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5069177" cy="1277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117583"/>
            <a:ext cx="15905759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002B36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Cảm ơn các bạn đã theo dõi!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7773" y="6934200"/>
            <a:ext cx="19247032" cy="4815863"/>
            <a:chOff x="0" y="0"/>
            <a:chExt cx="5069177" cy="1268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69177" cy="1268375"/>
            </a:xfrm>
            <a:custGeom>
              <a:avLst/>
              <a:gdLst/>
              <a:ahLst/>
              <a:cxnLst/>
              <a:rect r="r" b="b" t="t" l="l"/>
              <a:pathLst>
                <a:path h="1268375" w="5069177">
                  <a:moveTo>
                    <a:pt x="0" y="0"/>
                  </a:moveTo>
                  <a:lnTo>
                    <a:pt x="5069177" y="0"/>
                  </a:lnTo>
                  <a:lnTo>
                    <a:pt x="5069177" y="1268375"/>
                  </a:lnTo>
                  <a:lnTo>
                    <a:pt x="0" y="1268375"/>
                  </a:lnTo>
                  <a:close/>
                </a:path>
              </a:pathLst>
            </a:custGeom>
            <a:solidFill>
              <a:srgbClr val="002B3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5069177" cy="1277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278781" y="3749016"/>
            <a:ext cx="3730438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>
                <a:solidFill>
                  <a:srgbClr val="002B36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Demo!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Bài thuyết trình - VisionSpeak: Ứng dụng OCR &amp; TTS</dc:description>
  <dc:identifier>DAG3dyqYyIM</dc:identifier>
  <dcterms:modified xsi:type="dcterms:W3CDTF">2011-08-01T06:04:30Z</dcterms:modified>
  <cp:revision>1</cp:revision>
  <dc:title>Bài thuyết trình - VisionSpeak: Ứng dụng OCR &amp; TTS</dc:title>
</cp:coreProperties>
</file>